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7D7C1B-2296-4228-B5B4-F39B7BD68416}">
  <a:tblStyle styleId="{067D7C1B-2296-4228-B5B4-F39B7BD684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46f3c7094ff37a97_3_75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h46f3c7094ff37a97_3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Apresentação do Trabalho I de Fundamentos de Sistemas Operacionais. O objetivo é comparar dois protocolos consolidados, RIPv2 e OSPFv2, com uma abordagem customizada de Q-routing em uma topologia virtualizada.</a:t>
            </a:r>
            <a:endParaRPr/>
          </a:p>
        </p:txBody>
      </p:sp>
      <p:sp>
        <p:nvSpPr>
          <p:cNvPr id="128" name="Google Shape;128;h46f3c7094ff37a97_3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46f3c7094ff37a97_3_83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h46f3c7094ff37a97_3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O trabalho visa entender o comportamento prático de diferentes algoritmos. Avaliamos não apenas a latência em regime permanente, mas também o overhead de sinalização e a resiliência a falhas.</a:t>
            </a:r>
            <a:endParaRPr/>
          </a:p>
        </p:txBody>
      </p:sp>
      <p:sp>
        <p:nvSpPr>
          <p:cNvPr id="136" name="Google Shape;136;h46f3c7094ff37a97_3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46f3c7094ff37a97_3_99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h46f3c7094ff37a97_3_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A arquitetura utiliza Containerlab com BIRD 2 para roteamento nativo no Linux, e netem para emular latências diferenciadas nos enlaces, permitindo simular condições reais de rede.</a:t>
            </a:r>
            <a:endParaRPr/>
          </a:p>
        </p:txBody>
      </p:sp>
      <p:sp>
        <p:nvSpPr>
          <p:cNvPr id="153" name="Google Shape;153;h46f3c7094ff37a97_3_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46f3c7094ff37a97_3_115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h46f3c7094ff37a97_3_1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A topologia possui 7 roteadores em malha parcial. O Host 1 está conectado ao R1 e o Host 2 ao R7. Existem múltiplos caminhos possíveis entre R1 e R7 com características de latência bem distintas.</a:t>
            </a:r>
            <a:endParaRPr/>
          </a:p>
        </p:txBody>
      </p:sp>
      <p:sp>
        <p:nvSpPr>
          <p:cNvPr id="170" name="Google Shape;170;h46f3c7094ff37a97_3_1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46f3c7094ff37a97_0_2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h46f3c7094ff37a97_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A topologia possui 7 roteadores em malha parcial. O Host 1 está conectado ao R1 e o Host 2 ao R7. Existem múltiplos caminhos possíveis entre R1 e R7 com características de latência bem distintas.</a:t>
            </a:r>
            <a:endParaRPr/>
          </a:p>
        </p:txBody>
      </p:sp>
      <p:sp>
        <p:nvSpPr>
          <p:cNvPr id="181" name="Google Shape;181;h46f3c7094ff37a97_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46f3c7094ff37a97_3_125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h46f3c7094ff37a97_3_1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A métrica do RIP considera apenas a contagem de saltos, escolhendo o caminho R1-R5-R7. Porém, este caminho possui atraso de 60ms por enlace, resultando em um RTT de 240ms. Caminhos mais longos em saltos são significativamente mais rápidos.</a:t>
            </a:r>
            <a:endParaRPr/>
          </a:p>
        </p:txBody>
      </p:sp>
      <p:sp>
        <p:nvSpPr>
          <p:cNvPr id="192" name="Google Shape;192;h46f3c7094ff37a97_3_1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46f3c7094ff37a97_3_135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h46f3c7094ff37a97_3_1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No Cenário 1 com OSPFv2, atribuímos custos aos enlaces inversamente proporcionais à velocidade. O OSPF escolheu o caminho de menor custo total e apresentou reações rápidas a falhas graças aos temporizadores ajustados.</a:t>
            </a:r>
            <a:endParaRPr/>
          </a:p>
        </p:txBody>
      </p:sp>
      <p:sp>
        <p:nvSpPr>
          <p:cNvPr id="203" name="Google Shape;203;h46f3c7094ff37a97_3_1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46f3c7094ff37a97_3_149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h46f3c7094ff37a97_3_1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No Cenário 2, o RIPv2 selecionou a rota R1-R5-R7 por ter apenas 2 saltos, ignorando que cada enlace tinha 60ms de atraso. O tempo de recuperação após a falha de R1 foi de 3 segundos.</a:t>
            </a:r>
            <a:endParaRPr/>
          </a:p>
        </p:txBody>
      </p:sp>
      <p:sp>
        <p:nvSpPr>
          <p:cNvPr id="218" name="Google Shape;218;h46f3c7094ff37a97_3_1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46f3c7094ff37a97_3_163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h46f3c7094ff37a97_3_1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O Q-routing aplica aprendizado por reforço. Cada roteador ou agente central estimativo atualiza o valor Q de enviar um pacote a um destino através de determinado vizinho, considerando o atraso medido em tempo real.</a:t>
            </a:r>
            <a:endParaRPr/>
          </a:p>
        </p:txBody>
      </p:sp>
      <p:sp>
        <p:nvSpPr>
          <p:cNvPr id="233" name="Google Shape;233;h46f3c7094ff37a97_3_1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46f3c7094ff37a97_3_175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h46f3c7094ff37a97_3_1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Para evitar instabilidade e flapping de rotas devido a variações pontuais de ping, implementamos uma histerese de 10%. Apenas trocamos a rota ativa se a rota alternativa for pelo menos 10% mais rápida.</a:t>
            </a:r>
            <a:endParaRPr/>
          </a:p>
        </p:txBody>
      </p:sp>
      <p:sp>
        <p:nvSpPr>
          <p:cNvPr id="246" name="Google Shape;246;h46f3c7094ff37a97_3_1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46f3c7094ff37a97_3_184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h46f3c7094ff37a97_3_1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Definimos uma metodologia rigorosa de testes: medição de tabelas, captura de tráfego de controle com tcpdump por 60 segundos, teste de RTT com 50 pings e emulação de falha de interface para tempo de convergência.</a:t>
            </a:r>
            <a:endParaRPr/>
          </a:p>
        </p:txBody>
      </p:sp>
      <p:sp>
        <p:nvSpPr>
          <p:cNvPr id="256" name="Google Shape;256;h46f3c7094ff37a97_3_1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46f3c7094ff37a97_3_196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h46f3c7094ff37a97_3_1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O Q-routing atingiu o menor RTT médio (35.4 ms), uma redução drástica em relação ao OSPF (186.7 ms) e RIP (216.6 ms). Por outro lado, em caso de falha, o OSPF reconvergiu em apenas 0.4s contra 1.6s do Q-routing.</a:t>
            </a:r>
            <a:endParaRPr/>
          </a:p>
        </p:txBody>
      </p:sp>
      <p:sp>
        <p:nvSpPr>
          <p:cNvPr id="269" name="Google Shape;269;h46f3c7094ff37a97_3_1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46f3c7094ff37a97_3_206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h46f3c7094ff37a97_3_2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Em termos de tráfego de controle, o OSPF foi o mais econômico (800.9 B/s). O Q-routing gerou 2744 B/s devido à sondagem ativa de latência. Todos os protocolos conseguiram povoar com sucesso as rotas para todas as subredes.</a:t>
            </a:r>
            <a:endParaRPr/>
          </a:p>
        </p:txBody>
      </p:sp>
      <p:sp>
        <p:nvSpPr>
          <p:cNvPr id="280" name="Google Shape;280;h46f3c7094ff37a97_3_2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46f3c7094ff37a97_3_216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h46f3c7094ff37a97_3_2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Esta tabela resume as características fundamentais. O OSPF oferece o melhor equilíbrio geral para redes corporativas. O Q-routing é superior quando a prioridade absoluta é minimizar a latência.</a:t>
            </a:r>
            <a:endParaRPr/>
          </a:p>
        </p:txBody>
      </p:sp>
      <p:sp>
        <p:nvSpPr>
          <p:cNvPr id="291" name="Google Shape;291;h46f3c7094ff37a97_3_2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46f3c7094ff37a97_3_225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h46f3c7094ff37a97_3_2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Como conclusão, o OSPF permanece como a escolha recomendada para uso geral. No entanto, o Q-routing provou o valor de abordagens inteligentes quando a otimização dinâmica de latência é o requisito mais crítico.</a:t>
            </a:r>
            <a:endParaRPr/>
          </a:p>
        </p:txBody>
      </p:sp>
      <p:sp>
        <p:nvSpPr>
          <p:cNvPr id="301" name="Google Shape;301;h46f3c7094ff37a97_3_2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46f3c7094ff37a97_3_239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h46f3c7094ff37a97_3_2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Fala: Agradeço a atenção! Todos os arquivos de configuração do BIRD, scripts de automação do Q-routing e vídeos demonstrativos do experimento estão disponíveis no repositório do projeto. Fico à disposição para dúvidas!</a:t>
            </a:r>
            <a:endParaRPr/>
          </a:p>
        </p:txBody>
      </p:sp>
      <p:sp>
        <p:nvSpPr>
          <p:cNvPr id="316" name="Google Shape;316;h46f3c7094ff37a97_3_2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685818" y="2880360"/>
            <a:ext cx="7772378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74325" spcFirstLastPara="1" rIns="68575" wrap="square" tIns="20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Redes de Computadores: Internetworking, Roteamento e Transmissão</a:t>
            </a:r>
            <a:endParaRPr b="1" sz="1100">
              <a:solidFill>
                <a:srgbClr val="2B26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Gustavo Ribeiro Schwert</a:t>
            </a:r>
            <a:endParaRPr sz="1000">
              <a:solidFill>
                <a:srgbClr val="6C63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Universidade do vale do Rio do Sinos - 2026</a:t>
            </a:r>
            <a:endParaRPr sz="1000">
              <a:solidFill>
                <a:srgbClr val="6C6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0" y="0"/>
            <a:ext cx="9144015" cy="171450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685818" y="1028700"/>
            <a:ext cx="7772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700" u="none" cap="none" strike="noStrike">
                <a:solidFill>
                  <a:srgbClr val="7A1C30"/>
                </a:solidFill>
                <a:latin typeface="Georgia"/>
                <a:ea typeface="Georgia"/>
                <a:cs typeface="Georgia"/>
                <a:sym typeface="Georgia"/>
              </a:rPr>
              <a:t>Roteamento IP</a:t>
            </a:r>
            <a:endParaRPr sz="11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pt-BR" sz="15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Estudo Comparativo entre Protocolos Tradicionais (RIP, OSPF)</a:t>
            </a:r>
            <a:br>
              <a:rPr b="0" i="0" lang="pt-BR" sz="15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pt-BR" sz="15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e Algoritmo Baseado em Aprendizado por Reforço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INTRODUÇÃO E OBJETIVOS</a:t>
            </a:r>
            <a:endParaRPr sz="1100"/>
          </a:p>
        </p:txBody>
      </p:sp>
      <p:sp>
        <p:nvSpPr>
          <p:cNvPr id="140" name="Google Shape;140;p26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Avaliação Prática de Protocolos de Roteamento em Rede Virtualizada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48655" y="1234440"/>
            <a:ext cx="3931796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Implementar, testar e analisar o desempenho de três estratégias distintas de roteamento IP em uma malha de rede com múltiplos caminhos.</a:t>
            </a:r>
            <a:endParaRPr sz="1100"/>
          </a:p>
        </p:txBody>
      </p:sp>
      <p:sp>
        <p:nvSpPr>
          <p:cNvPr id="143" name="Google Shape;143;p26"/>
          <p:cNvSpPr/>
          <p:nvPr/>
        </p:nvSpPr>
        <p:spPr>
          <a:xfrm>
            <a:off x="548655" y="1234440"/>
            <a:ext cx="3931796" cy="54864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4663564" y="1234440"/>
            <a:ext cx="3931796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5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2E5A44"/>
                </a:solidFill>
                <a:latin typeface="Calibri"/>
                <a:ea typeface="Calibri"/>
                <a:cs typeface="Calibri"/>
                <a:sym typeface="Calibri"/>
              </a:rPr>
              <a:t>PROTOCOLOS AVALIADOS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RI</a:t>
            </a:r>
            <a:r>
              <a:rPr lang="pt-BR" sz="1000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OSPF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Q-routing</a:t>
            </a:r>
            <a:endParaRPr sz="1100"/>
          </a:p>
        </p:txBody>
      </p:sp>
      <p:sp>
        <p:nvSpPr>
          <p:cNvPr id="145" name="Google Shape;145;p26"/>
          <p:cNvSpPr/>
          <p:nvPr/>
        </p:nvSpPr>
        <p:spPr>
          <a:xfrm>
            <a:off x="4663564" y="1234440"/>
            <a:ext cx="3931796" cy="54864"/>
          </a:xfrm>
          <a:prstGeom prst="rect">
            <a:avLst/>
          </a:prstGeom>
          <a:solidFill>
            <a:srgbClr val="2E5A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548655" y="3086100"/>
            <a:ext cx="3931796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4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F4E5B"/>
                </a:solidFill>
                <a:latin typeface="Calibri"/>
                <a:ea typeface="Calibri"/>
                <a:cs typeface="Calibri"/>
                <a:sym typeface="Calibri"/>
              </a:rPr>
              <a:t>AMBIENTE DE SIMULAÇÃO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Rede em malha parcial com 7 roteadores virtualizados (BIRD 2) e 2 hosts (h1, h2) com latências emuladas por netem.</a:t>
            </a:r>
            <a:endParaRPr sz="1100"/>
          </a:p>
        </p:txBody>
      </p:sp>
      <p:sp>
        <p:nvSpPr>
          <p:cNvPr id="147" name="Google Shape;147;p26"/>
          <p:cNvSpPr/>
          <p:nvPr/>
        </p:nvSpPr>
        <p:spPr>
          <a:xfrm>
            <a:off x="548655" y="3086100"/>
            <a:ext cx="3931796" cy="54864"/>
          </a:xfrm>
          <a:prstGeom prst="rect">
            <a:avLst/>
          </a:prstGeom>
          <a:solidFill>
            <a:srgbClr val="1F4E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4663564" y="3086100"/>
            <a:ext cx="3931796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MÉTRICAS DE DESEMPENHO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Atraso fim a fi</a:t>
            </a: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m (RTT médio)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Tempo de convergência pós-falha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Tráfego de controle (Bytes/s e pckts/s)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Tamanho das tabelas de roteamento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4663564" y="3086100"/>
            <a:ext cx="3931796" cy="54864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ARQUITETURA DE SIMULAÇÃO</a:t>
            </a:r>
            <a:endParaRPr sz="1100"/>
          </a:p>
        </p:txBody>
      </p:sp>
      <p:sp>
        <p:nvSpPr>
          <p:cNvPr id="157" name="Google Shape;157;p27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Infraestrutura de Testes Baseada em Containers e Emulação de Enlaces</a:t>
            </a:r>
            <a:endParaRPr sz="1100"/>
          </a:p>
        </p:txBody>
      </p:sp>
      <p:sp>
        <p:nvSpPr>
          <p:cNvPr id="158" name="Google Shape;158;p27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548655" y="1234440"/>
            <a:ext cx="8046706" cy="7886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F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74325" spcFirstLastPara="1" rIns="68575" wrap="square" tIns="10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1. VirtualBox &amp; Ubuntu 26.04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VM dedicada garantindo isolamento total de recursos e reprodutibilidade do ambiente experimental.</a:t>
            </a:r>
            <a:endParaRPr sz="1100"/>
          </a:p>
        </p:txBody>
      </p:sp>
      <p:sp>
        <p:nvSpPr>
          <p:cNvPr id="160" name="Google Shape;160;p27"/>
          <p:cNvSpPr/>
          <p:nvPr/>
        </p:nvSpPr>
        <p:spPr>
          <a:xfrm>
            <a:off x="548655" y="1234440"/>
            <a:ext cx="102873" cy="788670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548655" y="2125980"/>
            <a:ext cx="8046706" cy="7886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F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74325" spcFirstLastPara="1" rIns="68575" wrap="square" tIns="10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2. Containerlab + Docker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Orquestração </a:t>
            </a: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dos 7 roteadores e 2 hosts em containers independentes com interfaces veth.</a:t>
            </a:r>
            <a:endParaRPr sz="1100"/>
          </a:p>
        </p:txBody>
      </p:sp>
      <p:sp>
        <p:nvSpPr>
          <p:cNvPr id="162" name="Google Shape;162;p27"/>
          <p:cNvSpPr/>
          <p:nvPr/>
        </p:nvSpPr>
        <p:spPr>
          <a:xfrm>
            <a:off x="548655" y="2125980"/>
            <a:ext cx="102873" cy="788670"/>
          </a:xfrm>
          <a:prstGeom prst="rect">
            <a:avLst/>
          </a:prstGeom>
          <a:solidFill>
            <a:srgbClr val="1F4E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548655" y="3017520"/>
            <a:ext cx="8046706" cy="7886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F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74325" spcFirstLastPara="1" rIns="68575" wrap="square" tIns="10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3. BIRD 2 (Routing Daemon)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Plataforma de roteamento </a:t>
            </a:r>
            <a:r>
              <a:rPr lang="pt-BR" sz="1000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responsável </a:t>
            </a: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por executar os daemons RIP e OSPF.</a:t>
            </a:r>
            <a:endParaRPr sz="1100"/>
          </a:p>
        </p:txBody>
      </p:sp>
      <p:sp>
        <p:nvSpPr>
          <p:cNvPr id="164" name="Google Shape;164;p27"/>
          <p:cNvSpPr/>
          <p:nvPr/>
        </p:nvSpPr>
        <p:spPr>
          <a:xfrm>
            <a:off x="548655" y="3017520"/>
            <a:ext cx="102873" cy="788670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548655" y="3909060"/>
            <a:ext cx="8046706" cy="78867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F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74325" spcFirstLastPara="1" rIns="68575" wrap="square" tIns="10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4. Netem &amp; TCPDump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Emulação precisa de atrasos de enlace e captura de tráfego de sinalização.</a:t>
            </a:r>
            <a:endParaRPr sz="1100"/>
          </a:p>
        </p:txBody>
      </p:sp>
      <p:sp>
        <p:nvSpPr>
          <p:cNvPr id="166" name="Google Shape;166;p27"/>
          <p:cNvSpPr/>
          <p:nvPr/>
        </p:nvSpPr>
        <p:spPr>
          <a:xfrm>
            <a:off x="548655" y="3909060"/>
            <a:ext cx="102873" cy="788670"/>
          </a:xfrm>
          <a:prstGeom prst="rect">
            <a:avLst/>
          </a:prstGeom>
          <a:solidFill>
            <a:srgbClr val="1F4E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TOPOLOGIA EXPERIMENTAL</a:t>
            </a:r>
            <a:endParaRPr sz="1100"/>
          </a:p>
        </p:txBody>
      </p:sp>
      <p:sp>
        <p:nvSpPr>
          <p:cNvPr id="174" name="Google Shape;174;p28"/>
          <p:cNvSpPr txBox="1"/>
          <p:nvPr/>
        </p:nvSpPr>
        <p:spPr>
          <a:xfrm>
            <a:off x="548655" y="445770"/>
            <a:ext cx="8024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Topologia</a:t>
            </a: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 de 7 Roteadores com Caminhos Assimétricos</a:t>
            </a:r>
            <a:endParaRPr sz="1100"/>
          </a:p>
        </p:txBody>
      </p:sp>
      <p:sp>
        <p:nvSpPr>
          <p:cNvPr id="175" name="Google Shape;175;p28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548655" y="1234440"/>
            <a:ext cx="3840582" cy="34975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205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ESTRUTURA DE CONEXÕES DA REDE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Host 1 (h1): Conectado a R1 (10.0.1.2/24)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Host 2 (h2): Conectado a R7 (10.0.2.2/24)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Enlaces do Core: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  - R1 ↔ R5 ↔ R7 (Caminho Direto)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  - R1 ↔ R2 ↔ R4 ↔ R7 (Caminho Superior)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  - R1 ↔ R3 ↔ R6 ↔ R7 (Caminho Inferior)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Subredes /30 dedicadas para cada enlace ponto a ponto.</a:t>
            </a:r>
            <a:endParaRPr sz="1100"/>
          </a:p>
        </p:txBody>
      </p:sp>
      <p:sp>
        <p:nvSpPr>
          <p:cNvPr id="177" name="Google Shape;177;p28"/>
          <p:cNvSpPr/>
          <p:nvPr/>
        </p:nvSpPr>
        <p:spPr>
          <a:xfrm>
            <a:off x="4663564" y="1234440"/>
            <a:ext cx="3931796" cy="3497580"/>
          </a:xfrm>
          <a:prstGeom prst="rect">
            <a:avLst/>
          </a:prstGeom>
          <a:solidFill>
            <a:srgbClr val="F3EFEA"/>
          </a:solidFill>
          <a:ln cap="flat" cmpd="sng" w="12700">
            <a:solidFill>
              <a:srgbClr val="DFD8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205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F4E5B"/>
                </a:solidFill>
                <a:latin typeface="Calibri"/>
                <a:ea typeface="Calibri"/>
                <a:cs typeface="Calibri"/>
                <a:sym typeface="Calibri"/>
              </a:rPr>
              <a:t>CARACTERÍSTICAS DA TOPOLOGIA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1. Múltiplos Caminhos de Roteamento: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   Existência de pelo menos 3 rotas alternativas entre Host 1 e Host 2.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2. Assimetria de Desempenho: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   O caminho de menor distância em saltos possui atraso propositalmente elevado.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3. Ponto de Falha Controlado: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   Desativação intencional da interface R1-R5 para medir tempo de recuperação.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548655" y="240030"/>
            <a:ext cx="8024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TOPOLOGIA EXPERIMENTAL</a:t>
            </a:r>
            <a:endParaRPr sz="1100"/>
          </a:p>
        </p:txBody>
      </p:sp>
      <p:sp>
        <p:nvSpPr>
          <p:cNvPr id="185" name="Google Shape;185;p29"/>
          <p:cNvSpPr txBox="1"/>
          <p:nvPr/>
        </p:nvSpPr>
        <p:spPr>
          <a:xfrm>
            <a:off x="548655" y="445770"/>
            <a:ext cx="8024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Topologia </a:t>
            </a: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de 7 Roteadores com Caminhos Assimétricos</a:t>
            </a:r>
            <a:endParaRPr sz="1100"/>
          </a:p>
        </p:txBody>
      </p:sp>
      <p:sp>
        <p:nvSpPr>
          <p:cNvPr id="186" name="Google Shape;186;p29"/>
          <p:cNvSpPr/>
          <p:nvPr/>
        </p:nvSpPr>
        <p:spPr>
          <a:xfrm>
            <a:off x="548655" y="1028700"/>
            <a:ext cx="8046600" cy="14400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674500" y="1208311"/>
            <a:ext cx="7772400" cy="365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274325" spcFirstLastPara="1" rIns="68575" wrap="square" tIns="205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C6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9" title="topologia_rede.png"/>
          <p:cNvPicPr preferRelativeResize="0"/>
          <p:nvPr/>
        </p:nvPicPr>
        <p:blipFill rotWithShape="1">
          <a:blip r:embed="rId3">
            <a:alphaModFix/>
          </a:blip>
          <a:srcRect b="6942" l="0" r="0" t="8713"/>
          <a:stretch/>
        </p:blipFill>
        <p:spPr>
          <a:xfrm>
            <a:off x="1511713" y="1567013"/>
            <a:ext cx="6120576" cy="294167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CONFIGURAÇÃO DE LATÊNCIA</a:t>
            </a:r>
            <a:endParaRPr sz="1100"/>
          </a:p>
        </p:txBody>
      </p:sp>
      <p:sp>
        <p:nvSpPr>
          <p:cNvPr id="196" name="Google Shape;196;p30"/>
          <p:cNvSpPr txBox="1"/>
          <p:nvPr/>
        </p:nvSpPr>
        <p:spPr>
          <a:xfrm>
            <a:off x="548655" y="445770"/>
            <a:ext cx="8024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Análise</a:t>
            </a: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 Entre Menor Número de Saltos e Menor Atraso de Enlace</a:t>
            </a:r>
            <a:endParaRPr sz="1100"/>
          </a:p>
        </p:txBody>
      </p:sp>
      <p:sp>
        <p:nvSpPr>
          <p:cNvPr id="197" name="Google Shape;197;p30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30"/>
          <p:cNvGraphicFramePr/>
          <p:nvPr/>
        </p:nvGraphicFramePr>
        <p:xfrm>
          <a:off x="548655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{067D7C1B-2296-4228-B5B4-F39B7BD68416}</a:tableStyleId>
              </a:tblPr>
              <a:tblGrid>
                <a:gridCol w="2011675"/>
                <a:gridCol w="2011675"/>
                <a:gridCol w="2011675"/>
                <a:gridCol w="2011675"/>
              </a:tblGrid>
              <a:tr h="54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Caminho de Roteamento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7A1C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Saltos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7A1C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Atraso por Enlace (ida)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7A1C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RTT Teórico Esperado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7A1C30"/>
                    </a:solidFill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cap="none" strike="noStrike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 – R5 – R7 (Caminho Direto)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saltos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ms + 60 ms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~240 ms RTT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 – R2 – R4 – R7 (Via R2/R4)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saltos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ms + 5 ms + 5 ms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~30 ms RTT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R1 – R3 – R6 – R7 (Via R3/R6)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saltos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ms + 10 ms + 10 ms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~60 ms RTT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30"/>
          <p:cNvSpPr/>
          <p:nvPr/>
        </p:nvSpPr>
        <p:spPr>
          <a:xfrm>
            <a:off x="548655" y="3634740"/>
            <a:ext cx="8046706" cy="1028700"/>
          </a:xfrm>
          <a:prstGeom prst="rect">
            <a:avLst/>
          </a:prstGeom>
          <a:solidFill>
            <a:srgbClr val="F3EFEA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O caminho com menor contagem de saltos (R1-R5-R7) possui os enlaces mais lentos (60ms). Protocolos estritamente baseados em métrica de saltos (ex: RIP) serão induzidos a escolher a pior rota em termos de latência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548655" y="240030"/>
            <a:ext cx="8024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CENÁRIO 1: OSPF (ESTADO DO ENLACE)</a:t>
            </a:r>
            <a:endParaRPr sz="1100"/>
          </a:p>
        </p:txBody>
      </p:sp>
      <p:sp>
        <p:nvSpPr>
          <p:cNvPr id="207" name="Google Shape;207;p31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Métrica Baseada em Custo de Enlace e Convergência Sub-Segundo</a:t>
            </a:r>
            <a:endParaRPr sz="1100"/>
          </a:p>
        </p:txBody>
      </p:sp>
      <p:sp>
        <p:nvSpPr>
          <p:cNvPr id="208" name="Google Shape;208;p31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1"/>
          <p:cNvSpPr/>
          <p:nvPr/>
        </p:nvSpPr>
        <p:spPr>
          <a:xfrm>
            <a:off x="548655" y="1234440"/>
            <a:ext cx="2560159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5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ÁREA  &amp; CUSTOS MANUAIS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Configuração de todos os 7 roteadores na Área 0 do BIRD. Métricas personalizadas atribuídas inversamente ao atraso dos enlaces.</a:t>
            </a:r>
            <a:endParaRPr sz="1100"/>
          </a:p>
        </p:txBody>
      </p:sp>
      <p:sp>
        <p:nvSpPr>
          <p:cNvPr id="210" name="Google Shape;210;p31"/>
          <p:cNvSpPr/>
          <p:nvPr/>
        </p:nvSpPr>
        <p:spPr>
          <a:xfrm>
            <a:off x="548655" y="1234440"/>
            <a:ext cx="2560159" cy="411480"/>
          </a:xfrm>
          <a:prstGeom prst="rect">
            <a:avLst/>
          </a:prstGeom>
          <a:solidFill>
            <a:srgbClr val="2E5A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 1</a:t>
            </a:r>
            <a:endParaRPr sz="1100"/>
          </a:p>
        </p:txBody>
      </p:sp>
      <p:sp>
        <p:nvSpPr>
          <p:cNvPr id="211" name="Google Shape;211;p31"/>
          <p:cNvSpPr/>
          <p:nvPr/>
        </p:nvSpPr>
        <p:spPr>
          <a:xfrm>
            <a:off x="3291928" y="1234440"/>
            <a:ext cx="2560159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5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TEMPORIZADORES OTIMIZADOS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Ajuste de temporizadores para aceleração de testes acadêmicos: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Hello Interval = 2s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Dead Interval = 8s</a:t>
            </a:r>
            <a:endParaRPr sz="1100"/>
          </a:p>
        </p:txBody>
      </p:sp>
      <p:sp>
        <p:nvSpPr>
          <p:cNvPr id="212" name="Google Shape;212;p31"/>
          <p:cNvSpPr/>
          <p:nvPr/>
        </p:nvSpPr>
        <p:spPr>
          <a:xfrm>
            <a:off x="3291928" y="1234440"/>
            <a:ext cx="2560159" cy="411480"/>
          </a:xfrm>
          <a:prstGeom prst="rect">
            <a:avLst/>
          </a:prstGeom>
          <a:solidFill>
            <a:srgbClr val="2E5A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endParaRPr sz="1100"/>
          </a:p>
        </p:txBody>
      </p:sp>
      <p:sp>
        <p:nvSpPr>
          <p:cNvPr id="213" name="Google Shape;213;p31"/>
          <p:cNvSpPr/>
          <p:nvPr/>
        </p:nvSpPr>
        <p:spPr>
          <a:xfrm>
            <a:off x="6035201" y="1234440"/>
            <a:ext cx="2560159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5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DECISÃO DE ROTEAMENTO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Escolhe o caminho de menor custo acumulado (R1-R2-R4-R7), contornando com sucesso os enlaces lentos de R5.</a:t>
            </a:r>
            <a:endParaRPr sz="1100"/>
          </a:p>
        </p:txBody>
      </p:sp>
      <p:sp>
        <p:nvSpPr>
          <p:cNvPr id="214" name="Google Shape;214;p31"/>
          <p:cNvSpPr/>
          <p:nvPr/>
        </p:nvSpPr>
        <p:spPr>
          <a:xfrm>
            <a:off x="6035201" y="1234440"/>
            <a:ext cx="2560159" cy="411480"/>
          </a:xfrm>
          <a:prstGeom prst="rect">
            <a:avLst/>
          </a:prstGeom>
          <a:solidFill>
            <a:srgbClr val="2E5A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548655" y="240030"/>
            <a:ext cx="8024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CENÁRIO 2: RIP (VETOR DE DISTÂNCIA)</a:t>
            </a:r>
            <a:endParaRPr sz="1100"/>
          </a:p>
        </p:txBody>
      </p:sp>
      <p:sp>
        <p:nvSpPr>
          <p:cNvPr id="222" name="Google Shape;222;p32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Simplicidade Operacional ao Custo de Escolha Subótima de Rota</a:t>
            </a:r>
            <a:endParaRPr sz="1100"/>
          </a:p>
        </p:txBody>
      </p:sp>
      <p:sp>
        <p:nvSpPr>
          <p:cNvPr id="223" name="Google Shape;223;p32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548655" y="1234440"/>
            <a:ext cx="2560159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MÉTRICA ESTRITA DE SALTOS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RIPv2 utiliza a contagem de saltos (Hop Count) como único critério. Ignora completamente largura de banda e latência dos enlaces.</a:t>
            </a:r>
            <a:endParaRPr sz="1100"/>
          </a:p>
        </p:txBody>
      </p:sp>
      <p:sp>
        <p:nvSpPr>
          <p:cNvPr id="225" name="Google Shape;225;p32"/>
          <p:cNvSpPr/>
          <p:nvPr/>
        </p:nvSpPr>
        <p:spPr>
          <a:xfrm>
            <a:off x="548655" y="1234440"/>
            <a:ext cx="2560159" cy="411480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 1</a:t>
            </a:r>
            <a:endParaRPr sz="1100"/>
          </a:p>
        </p:txBody>
      </p:sp>
      <p:sp>
        <p:nvSpPr>
          <p:cNvPr id="226" name="Google Shape;226;p32"/>
          <p:cNvSpPr/>
          <p:nvPr/>
        </p:nvSpPr>
        <p:spPr>
          <a:xfrm>
            <a:off x="3291928" y="1234440"/>
            <a:ext cx="2560159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TEMPORIZADORES AJUSTADOS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Temporizadores reduzidos para avaliação experimental: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Update = 5s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Timeout = 20s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Garbage Collect = 15s</a:t>
            </a:r>
            <a:endParaRPr sz="1100"/>
          </a:p>
        </p:txBody>
      </p:sp>
      <p:sp>
        <p:nvSpPr>
          <p:cNvPr id="227" name="Google Shape;227;p32"/>
          <p:cNvSpPr/>
          <p:nvPr/>
        </p:nvSpPr>
        <p:spPr>
          <a:xfrm>
            <a:off x="3291928" y="1234440"/>
            <a:ext cx="2560159" cy="411480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endParaRPr sz="1100"/>
          </a:p>
        </p:txBody>
      </p:sp>
      <p:sp>
        <p:nvSpPr>
          <p:cNvPr id="228" name="Google Shape;228;p32"/>
          <p:cNvSpPr/>
          <p:nvPr/>
        </p:nvSpPr>
        <p:spPr>
          <a:xfrm>
            <a:off x="6035201" y="1234440"/>
            <a:ext cx="256020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COMPORTAMENTO OBSERVADO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Escolhe a rota R1-R5-R7 por ter 2 saltos, resultando em RTT elevado (~216 ms). Sofre com reconvergência mais lenta pós-falha.</a:t>
            </a:r>
            <a:endParaRPr sz="1100"/>
          </a:p>
        </p:txBody>
      </p:sp>
      <p:sp>
        <p:nvSpPr>
          <p:cNvPr id="229" name="Google Shape;229;p32"/>
          <p:cNvSpPr/>
          <p:nvPr/>
        </p:nvSpPr>
        <p:spPr>
          <a:xfrm>
            <a:off x="6035201" y="1234440"/>
            <a:ext cx="2560159" cy="411480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CENÁRIO 3: Q-ROUTING (APRENDIZADO POR REFORÇO)</a:t>
            </a:r>
            <a:endParaRPr sz="1100"/>
          </a:p>
        </p:txBody>
      </p:sp>
      <p:sp>
        <p:nvSpPr>
          <p:cNvPr id="237" name="Google Shape;237;p33"/>
          <p:cNvSpPr txBox="1"/>
          <p:nvPr/>
        </p:nvSpPr>
        <p:spPr>
          <a:xfrm>
            <a:off x="548655" y="445770"/>
            <a:ext cx="8024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Roteamento Adaptativo Baseado no Algoritmo de Boyan &amp; Littman</a:t>
            </a:r>
            <a:endParaRPr sz="1100"/>
          </a:p>
        </p:txBody>
      </p:sp>
      <p:sp>
        <p:nvSpPr>
          <p:cNvPr id="238" name="Google Shape;238;p33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548655" y="1234440"/>
            <a:ext cx="8046706" cy="891540"/>
          </a:xfrm>
          <a:prstGeom prst="rect">
            <a:avLst/>
          </a:prstGeom>
          <a:solidFill>
            <a:srgbClr val="F3EFEA"/>
          </a:solidFill>
          <a:ln cap="flat" cmpd="sng" w="12700">
            <a:solidFill>
              <a:srgbClr val="1F4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0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1F4E5B"/>
                </a:solidFill>
                <a:latin typeface="Calibri"/>
                <a:ea typeface="Calibri"/>
                <a:cs typeface="Calibri"/>
                <a:sym typeface="Calibri"/>
              </a:rPr>
              <a:t>EQUAÇÃO DE ATUALIZAÇÃO DO Q-VALUE (ATRASO ESTIMADO DE ENTREGA)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7A1C30"/>
                </a:solidFill>
                <a:latin typeface="Georgia"/>
                <a:ea typeface="Georgia"/>
                <a:cs typeface="Georgia"/>
                <a:sym typeface="Georgia"/>
              </a:rPr>
              <a:t>Qx(d, y)  ←  (1 - α) · Qx(d, y)  +  α · [ q  +  min Q</a:t>
            </a:r>
            <a:r>
              <a:rPr b="1" lang="pt-BR">
                <a:solidFill>
                  <a:srgbClr val="7A1C30"/>
                </a:solidFill>
                <a:latin typeface="Georgia"/>
                <a:ea typeface="Georgia"/>
                <a:cs typeface="Georgia"/>
                <a:sym typeface="Georgia"/>
              </a:rPr>
              <a:t> do vizinho</a:t>
            </a:r>
            <a:r>
              <a:rPr b="1" i="0" lang="pt-BR" sz="1400" u="none" cap="none" strike="noStrike">
                <a:solidFill>
                  <a:srgbClr val="7A1C30"/>
                </a:solidFill>
                <a:latin typeface="Georgia"/>
                <a:ea typeface="Georgia"/>
                <a:cs typeface="Georgia"/>
                <a:sym typeface="Georgia"/>
              </a:rPr>
              <a:t>]</a:t>
            </a:r>
            <a:endParaRPr sz="1100"/>
          </a:p>
        </p:txBody>
      </p:sp>
      <p:sp>
        <p:nvSpPr>
          <p:cNvPr id="240" name="Google Shape;240;p33"/>
          <p:cNvSpPr/>
          <p:nvPr/>
        </p:nvSpPr>
        <p:spPr>
          <a:xfrm>
            <a:off x="548655" y="2263140"/>
            <a:ext cx="2560159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4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1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F4E5B"/>
                </a:solidFill>
                <a:latin typeface="Georgia"/>
                <a:ea typeface="Georgia"/>
                <a:cs typeface="Georgia"/>
                <a:sym typeface="Georgia"/>
              </a:rPr>
              <a:t>MEDIÇÃO CONTÍNUA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Pings periódicos de amostragem (1 ping/s) medem a latência real de ida e volta para todos os caminhos disponíveis.</a:t>
            </a:r>
            <a:endParaRPr sz="1100"/>
          </a:p>
        </p:txBody>
      </p:sp>
      <p:sp>
        <p:nvSpPr>
          <p:cNvPr id="241" name="Google Shape;241;p33"/>
          <p:cNvSpPr/>
          <p:nvPr/>
        </p:nvSpPr>
        <p:spPr>
          <a:xfrm>
            <a:off x="3291928" y="2263140"/>
            <a:ext cx="2560159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4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1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F4E5B"/>
                </a:solidFill>
                <a:latin typeface="Georgia"/>
                <a:ea typeface="Georgia"/>
                <a:cs typeface="Georgia"/>
                <a:sym typeface="Georgia"/>
              </a:rPr>
              <a:t>TABELA Q DE ATRASOS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O agente mantém uma matriz Q(destino, vizinho) que armazena a estimativa de tempo de entrega para cada rota.</a:t>
            </a:r>
            <a:endParaRPr sz="1100"/>
          </a:p>
        </p:txBody>
      </p:sp>
      <p:sp>
        <p:nvSpPr>
          <p:cNvPr id="242" name="Google Shape;242;p33"/>
          <p:cNvSpPr/>
          <p:nvPr/>
        </p:nvSpPr>
        <p:spPr>
          <a:xfrm>
            <a:off x="6035201" y="2263140"/>
            <a:ext cx="2560159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4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1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1F4E5B"/>
                </a:solidFill>
                <a:latin typeface="Georgia"/>
                <a:ea typeface="Georgia"/>
                <a:cs typeface="Georgia"/>
                <a:sym typeface="Georgia"/>
              </a:rPr>
              <a:t>INJEÇÃO DINÂMICA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A melhor rota encontrada (menor valor Q) é injetada diretamente na Tabela de Roteamento do Kernel Linux.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Q-ROUTING: DECISÕES DE PROJETO</a:t>
            </a:r>
            <a:endParaRPr sz="1100"/>
          </a:p>
        </p:txBody>
      </p:sp>
      <p:sp>
        <p:nvSpPr>
          <p:cNvPr id="250" name="Google Shape;250;p34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Mecanismos de Estabilização e Prevenção de Oscilação de Rotas</a:t>
            </a:r>
            <a:endParaRPr sz="1100"/>
          </a:p>
        </p:txBody>
      </p:sp>
      <p:sp>
        <p:nvSpPr>
          <p:cNvPr id="251" name="Google Shape;251;p34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34"/>
          <p:cNvGraphicFramePr/>
          <p:nvPr/>
        </p:nvGraphicFramePr>
        <p:xfrm>
          <a:off x="548655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{067D7C1B-2296-4228-B5B4-F39B7BD68416}</a:tableStyleId>
              </a:tblPr>
              <a:tblGrid>
                <a:gridCol w="2682225"/>
                <a:gridCol w="2682225"/>
                <a:gridCol w="2682225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Parâmetro / Mecanismo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F4E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Configuração Adotada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F4E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Motivação / Benefício Técnico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F4E5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 Primária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Atraso Médio Medido (ms)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Otimização direta da qualidade de experiência (RTT da aplicação)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Escopo de Atualização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Todos os Vizinhos Ativos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Visibilidade completa de rotas alternativas em caso de degradação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 Horizon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Ativado na propagação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Evita laços de roteamento (routing loops) entre roteadores adjacentes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Arquitetura de Controle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Script Python Centralizado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Simplificação da prototipagem e controle preciso para validação acadêmica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METODOLOGIA DE MEDIÇÃO</a:t>
            </a:r>
            <a:endParaRPr sz="1100"/>
          </a:p>
        </p:txBody>
      </p:sp>
      <p:sp>
        <p:nvSpPr>
          <p:cNvPr id="260" name="Google Shape;260;p35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Protocolo Experimental Padronizado em 4 Dimensões</a:t>
            </a:r>
            <a:endParaRPr sz="1100"/>
          </a:p>
        </p:txBody>
      </p:sp>
      <p:sp>
        <p:nvSpPr>
          <p:cNvPr id="261" name="Google Shape;261;p35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548655" y="1234440"/>
            <a:ext cx="3931796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A1C30"/>
                </a:solidFill>
                <a:latin typeface="Georgia"/>
                <a:ea typeface="Georgia"/>
                <a:cs typeface="Georgia"/>
                <a:sym typeface="Georgia"/>
              </a:rPr>
              <a:t>1. TABELAS DE ROTEAMENTO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Captura periódica do estado das tabelas via `ip route show` no kernel e `birdc show route` nos containers.</a:t>
            </a:r>
            <a:endParaRPr sz="1100"/>
          </a:p>
        </p:txBody>
      </p:sp>
      <p:sp>
        <p:nvSpPr>
          <p:cNvPr id="263" name="Google Shape;263;p35"/>
          <p:cNvSpPr/>
          <p:nvPr/>
        </p:nvSpPr>
        <p:spPr>
          <a:xfrm>
            <a:off x="4663564" y="1234440"/>
            <a:ext cx="3931800" cy="164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A1C30"/>
                </a:solidFill>
                <a:latin typeface="Georgia"/>
                <a:ea typeface="Georgia"/>
                <a:cs typeface="Georgia"/>
                <a:sym typeface="Georgia"/>
              </a:rPr>
              <a:t>2. TRÁFEGO DE CONTROLE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Captura contínua de sinalização via `tcpdump` por 60s, contabilizando Pacotes/s e Bytes/s no enlace.</a:t>
            </a:r>
            <a:endParaRPr sz="1100"/>
          </a:p>
        </p:txBody>
      </p:sp>
      <p:sp>
        <p:nvSpPr>
          <p:cNvPr id="264" name="Google Shape;264;p35"/>
          <p:cNvSpPr/>
          <p:nvPr/>
        </p:nvSpPr>
        <p:spPr>
          <a:xfrm>
            <a:off x="548655" y="3086100"/>
            <a:ext cx="3931796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A1C30"/>
                </a:solidFill>
                <a:latin typeface="Georgia"/>
                <a:ea typeface="Georgia"/>
                <a:cs typeface="Georgia"/>
                <a:sym typeface="Georgia"/>
              </a:rPr>
              <a:t>3. DELAY FIM A FIM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Envio contínuo de ICMP Ping entre Host 1 e Host 2 (50 amostras) para cálculo da média e desvio padrão do RTT.</a:t>
            </a:r>
            <a:endParaRPr sz="1100"/>
          </a:p>
        </p:txBody>
      </p:sp>
      <p:sp>
        <p:nvSpPr>
          <p:cNvPr id="265" name="Google Shape;265;p35"/>
          <p:cNvSpPr/>
          <p:nvPr/>
        </p:nvSpPr>
        <p:spPr>
          <a:xfrm>
            <a:off x="4663564" y="3086100"/>
            <a:ext cx="3931796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7A1C30"/>
                </a:solidFill>
                <a:latin typeface="Georgia"/>
                <a:ea typeface="Georgia"/>
                <a:cs typeface="Georgia"/>
                <a:sym typeface="Georgia"/>
              </a:rPr>
              <a:t>4. TEMPO DE CONVERGÊNCIA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Derrubada forçada de interface (`ip link set down`) medindo pacotes perdidos até a recuperação total da conectividade.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RESULTADOS: DELAY E CONVERGÊNCIA</a:t>
            </a:r>
            <a:endParaRPr sz="1100"/>
          </a:p>
        </p:txBody>
      </p:sp>
      <p:sp>
        <p:nvSpPr>
          <p:cNvPr id="273" name="Google Shape;273;p36"/>
          <p:cNvSpPr txBox="1"/>
          <p:nvPr/>
        </p:nvSpPr>
        <p:spPr>
          <a:xfrm>
            <a:off x="548655" y="445770"/>
            <a:ext cx="8024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Resultados encontrados (Delay e </a:t>
            </a:r>
            <a:r>
              <a:rPr b="1" lang="pt-BR" sz="1800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convergência</a:t>
            </a:r>
            <a:r>
              <a:rPr b="1" lang="pt-BR" sz="1800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sz="1100"/>
          </a:p>
        </p:txBody>
      </p:sp>
      <p:sp>
        <p:nvSpPr>
          <p:cNvPr id="274" name="Google Shape;274;p36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575" y="1591659"/>
            <a:ext cx="3683174" cy="26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1639425"/>
            <a:ext cx="3683174" cy="2676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RESULTADOS: SINALIZAÇÃO E TABELAS</a:t>
            </a:r>
            <a:endParaRPr sz="1100"/>
          </a:p>
        </p:txBody>
      </p:sp>
      <p:sp>
        <p:nvSpPr>
          <p:cNvPr id="284" name="Google Shape;284;p37"/>
          <p:cNvSpPr txBox="1"/>
          <p:nvPr/>
        </p:nvSpPr>
        <p:spPr>
          <a:xfrm>
            <a:off x="548655" y="445770"/>
            <a:ext cx="8024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1800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Resultados encontrados (Delay e convergência)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B262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5" name="Google Shape;285;p37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834705"/>
            <a:ext cx="3672000" cy="26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2555" y="1834700"/>
            <a:ext cx="3682801" cy="26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SÍNTESE COMPARATIVA</a:t>
            </a:r>
            <a:endParaRPr sz="1100"/>
          </a:p>
        </p:txBody>
      </p:sp>
      <p:sp>
        <p:nvSpPr>
          <p:cNvPr id="295" name="Google Shape;295;p38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Matriz Comparativa Sintética dos Três Cenários Evaluados</a:t>
            </a:r>
            <a:endParaRPr sz="1100"/>
          </a:p>
        </p:txBody>
      </p:sp>
      <p:sp>
        <p:nvSpPr>
          <p:cNvPr id="296" name="Google Shape;296;p38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38"/>
          <p:cNvGraphicFramePr/>
          <p:nvPr/>
        </p:nvGraphicFramePr>
        <p:xfrm>
          <a:off x="548655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{067D7C1B-2296-4228-B5B4-F39B7BD68416}</a:tableStyleId>
              </a:tblPr>
              <a:tblGrid>
                <a:gridCol w="2011675"/>
                <a:gridCol w="2011675"/>
                <a:gridCol w="2011675"/>
                <a:gridCol w="2011675"/>
              </a:tblGrid>
              <a:tr h="49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Critério de Comparação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7A1C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RIPv2 (Vetor Distância)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2E5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OSPFv2 (Estado Enlace)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2E5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Q-routing (Reforço)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F4E5B"/>
                    </a:solidFill>
                  </a:tcPr>
                </a:tc>
              </a:tr>
              <a:tr h="49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 Principal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Contagem de Saltos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 do Enlace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Atraso Medido (ms)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9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RTT Médio (ms)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216.6 ms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186.7 ms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</a:rPr>
                        <a:t>35.4 ms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</a:tr>
              <a:tr h="49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 de Convergência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 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</a:rPr>
                        <a:t>0.4 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 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9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Tráfego de Controle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1668.5 B/s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800.9 B/s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2744.0 B/s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</a:tr>
              <a:tr h="49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Escalabilidade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Baixa (Máx 15 saltos)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 (Áreas OSPF)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 do Agente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9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Complexidade Operacional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Baixa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Média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rgbClr val="2B262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 (Script/RL)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3EF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9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CONCLUSÕES E RECOMENDAÇÕES</a:t>
            </a:r>
            <a:endParaRPr sz="1100"/>
          </a:p>
        </p:txBody>
      </p:sp>
      <p:sp>
        <p:nvSpPr>
          <p:cNvPr id="305" name="Google Shape;305;p39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Indicação do Protocolo Ideal Conforme o Requisito da Rede</a:t>
            </a:r>
            <a:endParaRPr sz="1100"/>
          </a:p>
        </p:txBody>
      </p:sp>
      <p:sp>
        <p:nvSpPr>
          <p:cNvPr id="306" name="Google Shape;306;p39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9"/>
          <p:cNvSpPr/>
          <p:nvPr/>
        </p:nvSpPr>
        <p:spPr>
          <a:xfrm>
            <a:off x="548655" y="1234440"/>
            <a:ext cx="2560159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5A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QUANDO USAR OSPFV2?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Padrão recomendado para redes corporativas e backbones de provedores.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Garantia de reconvergência em milissegundos e suporte a hierarquia.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Mínimo consumo de tráfego de controle em regime permanente.</a:t>
            </a:r>
            <a:endParaRPr sz="1100"/>
          </a:p>
        </p:txBody>
      </p:sp>
      <p:sp>
        <p:nvSpPr>
          <p:cNvPr id="308" name="Google Shape;308;p39"/>
          <p:cNvSpPr/>
          <p:nvPr/>
        </p:nvSpPr>
        <p:spPr>
          <a:xfrm>
            <a:off x="548655" y="1234440"/>
            <a:ext cx="2560159" cy="411480"/>
          </a:xfrm>
          <a:prstGeom prst="rect">
            <a:avLst/>
          </a:prstGeom>
          <a:solidFill>
            <a:srgbClr val="2E5A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DE USO 1</a:t>
            </a:r>
            <a:endParaRPr sz="1100"/>
          </a:p>
        </p:txBody>
      </p:sp>
      <p:sp>
        <p:nvSpPr>
          <p:cNvPr id="309" name="Google Shape;309;p39"/>
          <p:cNvSpPr/>
          <p:nvPr/>
        </p:nvSpPr>
        <p:spPr>
          <a:xfrm>
            <a:off x="3291928" y="1234440"/>
            <a:ext cx="2560159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QUANDO USAR RIPV2?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Redes legadas de pequeno porte com topologias simples e lineares.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Ambientes onde a facilidade de configuração supera qualquer requisito de desempenho ou velocidade de convergência.</a:t>
            </a:r>
            <a:endParaRPr sz="1100"/>
          </a:p>
        </p:txBody>
      </p:sp>
      <p:sp>
        <p:nvSpPr>
          <p:cNvPr id="310" name="Google Shape;310;p39"/>
          <p:cNvSpPr/>
          <p:nvPr/>
        </p:nvSpPr>
        <p:spPr>
          <a:xfrm>
            <a:off x="3291928" y="1234440"/>
            <a:ext cx="2560159" cy="411480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DE USO 2</a:t>
            </a:r>
            <a:endParaRPr sz="1100"/>
          </a:p>
        </p:txBody>
      </p:sp>
      <p:sp>
        <p:nvSpPr>
          <p:cNvPr id="311" name="Google Shape;311;p39"/>
          <p:cNvSpPr/>
          <p:nvPr/>
        </p:nvSpPr>
        <p:spPr>
          <a:xfrm>
            <a:off x="6035201" y="1234440"/>
            <a:ext cx="256020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4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171450" spcFirstLastPara="1" rIns="68575" wrap="square" tIns="548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QUANDO USAR Q-ROUTING?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Redes dinâmicas com latência extremamente variável (ex: redes ad-hoc, satélites).</a:t>
            </a:r>
            <a:b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6C635B"/>
                </a:solidFill>
                <a:latin typeface="Calibri"/>
                <a:ea typeface="Calibri"/>
                <a:cs typeface="Calibri"/>
                <a:sym typeface="Calibri"/>
              </a:rPr>
              <a:t>• Aplicações onde a minimização do atraso compensa a sobrecarga do tráfego de sondagem.</a:t>
            </a:r>
            <a:endParaRPr sz="1100"/>
          </a:p>
        </p:txBody>
      </p:sp>
      <p:sp>
        <p:nvSpPr>
          <p:cNvPr id="312" name="Google Shape;312;p39"/>
          <p:cNvSpPr/>
          <p:nvPr/>
        </p:nvSpPr>
        <p:spPr>
          <a:xfrm>
            <a:off x="6035201" y="1234440"/>
            <a:ext cx="2560159" cy="411480"/>
          </a:xfrm>
          <a:prstGeom prst="rect">
            <a:avLst/>
          </a:prstGeom>
          <a:solidFill>
            <a:srgbClr val="1F4E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DE USO 3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7A1C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 txBox="1"/>
          <p:nvPr/>
        </p:nvSpPr>
        <p:spPr>
          <a:xfrm>
            <a:off x="548655" y="240030"/>
            <a:ext cx="802407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CONSIDERAÇÕES FINAIS E ENCERRAMENTO</a:t>
            </a:r>
            <a:endParaRPr sz="1100"/>
          </a:p>
        </p:txBody>
      </p:sp>
      <p:sp>
        <p:nvSpPr>
          <p:cNvPr id="320" name="Google Shape;320;p40"/>
          <p:cNvSpPr txBox="1"/>
          <p:nvPr/>
        </p:nvSpPr>
        <p:spPr>
          <a:xfrm>
            <a:off x="548655" y="445770"/>
            <a:ext cx="8024074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2B2625"/>
                </a:solidFill>
                <a:latin typeface="Georgia"/>
                <a:ea typeface="Georgia"/>
                <a:cs typeface="Georgia"/>
                <a:sym typeface="Georgia"/>
              </a:rPr>
              <a:t>Síntese Prática, Limitações e Disponibilização do Código</a:t>
            </a:r>
            <a:endParaRPr sz="1100"/>
          </a:p>
        </p:txBody>
      </p:sp>
      <p:sp>
        <p:nvSpPr>
          <p:cNvPr id="321" name="Google Shape;321;p40"/>
          <p:cNvSpPr/>
          <p:nvPr/>
        </p:nvSpPr>
        <p:spPr>
          <a:xfrm>
            <a:off x="548655" y="1028700"/>
            <a:ext cx="8046706" cy="14288"/>
          </a:xfrm>
          <a:prstGeom prst="rect">
            <a:avLst/>
          </a:prstGeom>
          <a:solidFill>
            <a:srgbClr val="DFD8C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548655" y="1234440"/>
            <a:ext cx="3840582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A1C3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7A1C30"/>
                </a:solidFill>
                <a:latin typeface="Calibri"/>
                <a:ea typeface="Calibri"/>
                <a:cs typeface="Calibri"/>
                <a:sym typeface="Calibri"/>
              </a:rPr>
              <a:t>LIMITAÇÕES DA METODOLOGIA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Testes realizados em VM única (possíveis variações de CPU durante rajadas de ping).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Emulação de falha restrita à desativação de interface física (`ip link set down`).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Protótipo Q-routing com controle centralizado para viabilizar a coleta.</a:t>
            </a:r>
            <a:endParaRPr sz="1100"/>
          </a:p>
        </p:txBody>
      </p:sp>
      <p:sp>
        <p:nvSpPr>
          <p:cNvPr id="323" name="Google Shape;323;p40"/>
          <p:cNvSpPr/>
          <p:nvPr/>
        </p:nvSpPr>
        <p:spPr>
          <a:xfrm>
            <a:off x="4663564" y="1234440"/>
            <a:ext cx="3931796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F4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205725" spcFirstLastPara="1" rIns="68575" wrap="square" tIns="1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F4E5B"/>
                </a:solidFill>
                <a:latin typeface="Calibri"/>
                <a:ea typeface="Calibri"/>
                <a:cs typeface="Calibri"/>
                <a:sym typeface="Calibri"/>
              </a:rPr>
              <a:t>ENTREGÁVEIS DO PROJETO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Código-fonte completo dos scripts Python (Q-routing) e BIRD 2.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Arquivos de orquestração para reprodução.</a:t>
            </a:r>
            <a:b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000" u="none" cap="none" strike="noStrike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• Vídeo demonstrativo da simulação e capturas PCAP no GitHub.</a:t>
            </a:r>
            <a:endParaRPr sz="1000">
              <a:solidFill>
                <a:srgbClr val="2B26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2B2625"/>
                </a:solidFill>
                <a:latin typeface="Calibri"/>
                <a:ea typeface="Calibri"/>
                <a:cs typeface="Calibri"/>
                <a:sym typeface="Calibri"/>
              </a:rPr>
              <a:t>https://github.com/GustaSch/ProjetosRedes02</a:t>
            </a:r>
            <a:endParaRPr sz="1000">
              <a:solidFill>
                <a:srgbClr val="2B262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